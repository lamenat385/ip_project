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media/image1.jpeg" ContentType="image/jpeg"/>
  <Override PartName="/ppt/media/image2.png" ContentType="image/png"/>
  <Override PartName="/ppt/media/image5.png" ContentType="image/png"/>
  <Override PartName="/ppt/media/image3.jpeg" ContentType="image/jpeg"/>
  <Override PartName="/ppt/media/image4.png" ContentType="image/png"/>
  <Override PartName="/ppt/media/image6.png" ContentType="image/png"/>
  <Override PartName="/ppt/media/image9.png" ContentType="image/png"/>
  <Override PartName="/ppt/media/image7.jpeg" ContentType="image/jpeg"/>
  <Override PartName="/ppt/media/image8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8288000" cy="10287000"/>
  <p:notesSz cx="10287000" cy="1828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latin typeface="Arial"/>
              </a:rPr>
              <a:t>Click to move the slide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ru-RU" sz="2000" spc="-1" strike="noStrike">
                <a:latin typeface="Arial"/>
              </a:rPr>
              <a:t>Click to edit the notes format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ru-RU" sz="1400" spc="-1" strike="noStrike">
                <a:latin typeface="Times New Roman"/>
              </a:rPr>
              <a:t>&lt;header&gt;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ru-RU" sz="1400" spc="-1" strike="noStrike">
                <a:latin typeface="Times New Roman"/>
              </a:rPr>
              <a:t>&lt;date/time&gt;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ru-RU" sz="1400" spc="-1" strike="noStrike">
                <a:latin typeface="Times New Roman"/>
              </a:rPr>
              <a:t>&lt;footer&gt;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5133408F-DE75-47DA-9802-8307DB60ACF5}" type="slidenum">
              <a:rPr b="0" lang="ru-RU" sz="1400" spc="-1" strike="noStrike">
                <a:latin typeface="Times New Roman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59640" cy="359640"/>
          </a:xfrm>
          <a:prstGeom prst="rect">
            <a:avLst/>
          </a:prstGeom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59640" cy="35964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91" name="CustomShape 3"/>
          <p:cNvSpPr/>
          <p:nvPr/>
        </p:nvSpPr>
        <p:spPr>
          <a:xfrm>
            <a:off x="0" y="0"/>
            <a:ext cx="359640" cy="35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5A5E32EF-360C-42B0-842B-76B383963955}" type="slidenum">
              <a:rPr b="0" lang="ru-RU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ru-RU" sz="18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59640" cy="359640"/>
          </a:xfrm>
          <a:prstGeom prst="rect">
            <a:avLst/>
          </a:prstGeom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59640" cy="35964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94" name="CustomShape 3"/>
          <p:cNvSpPr/>
          <p:nvPr/>
        </p:nvSpPr>
        <p:spPr>
          <a:xfrm>
            <a:off x="0" y="0"/>
            <a:ext cx="359640" cy="35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628FDADB-5E4C-4550-9114-09813B640098}" type="slidenum">
              <a:rPr b="0" lang="ru-RU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ru-RU" sz="18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59640" cy="359640"/>
          </a:xfrm>
          <a:prstGeom prst="rect">
            <a:avLst/>
          </a:prstGeom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59640" cy="35964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97" name="CustomShape 3"/>
          <p:cNvSpPr/>
          <p:nvPr/>
        </p:nvSpPr>
        <p:spPr>
          <a:xfrm>
            <a:off x="0" y="0"/>
            <a:ext cx="359640" cy="35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03B5F5D8-08E7-42A4-9C75-7DDBDC66F02B}" type="slidenum">
              <a:rPr b="0" lang="ru-RU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ru-RU" sz="18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59640" cy="359640"/>
          </a:xfrm>
          <a:prstGeom prst="rect">
            <a:avLst/>
          </a:prstGeom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59640" cy="35964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00" name="CustomShape 3"/>
          <p:cNvSpPr/>
          <p:nvPr/>
        </p:nvSpPr>
        <p:spPr>
          <a:xfrm>
            <a:off x="0" y="0"/>
            <a:ext cx="359640" cy="35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221A434F-BE0E-4177-9774-0080DB4C9532}" type="slidenum">
              <a:rPr b="0" lang="ru-RU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ru-RU" sz="18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59640" cy="359640"/>
          </a:xfrm>
          <a:prstGeom prst="rect">
            <a:avLst/>
          </a:prstGeom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59640" cy="35964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03" name="CustomShape 3"/>
          <p:cNvSpPr/>
          <p:nvPr/>
        </p:nvSpPr>
        <p:spPr>
          <a:xfrm>
            <a:off x="0" y="0"/>
            <a:ext cx="359640" cy="35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23D3C07F-6762-4342-846F-1ADFA6EC31C9}" type="slidenum">
              <a:rPr b="0" lang="ru-RU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ru-RU" sz="18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59640" cy="359640"/>
          </a:xfrm>
          <a:prstGeom prst="rect">
            <a:avLst/>
          </a:prstGeom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59640" cy="35964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06" name="CustomShape 3"/>
          <p:cNvSpPr/>
          <p:nvPr/>
        </p:nvSpPr>
        <p:spPr>
          <a:xfrm>
            <a:off x="0" y="0"/>
            <a:ext cx="359640" cy="35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66F0F1CF-CF6A-4D29-BF38-F0081CB8B7EA}" type="slidenum">
              <a:rPr b="0" lang="ru-RU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ru-RU" sz="18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59640" cy="359640"/>
          </a:xfrm>
          <a:prstGeom prst="rect">
            <a:avLst/>
          </a:prstGeom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59640" cy="35964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09" name="CustomShape 3"/>
          <p:cNvSpPr/>
          <p:nvPr/>
        </p:nvSpPr>
        <p:spPr>
          <a:xfrm>
            <a:off x="0" y="0"/>
            <a:ext cx="359640" cy="35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AFC5AE67-D1A5-4B9D-B948-B099EC5A2EF3}" type="slidenum">
              <a:rPr b="0" lang="ru-RU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ru-RU" sz="18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ru-RU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685800" y="2743200"/>
            <a:ext cx="9326520" cy="457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10800"/>
              </a:lnSpc>
            </a:pPr>
            <a:r>
              <a:rPr b="1" lang="ru-RU" sz="7200" spc="-1" strike="noStrike">
                <a:solidFill>
                  <a:srgbClr val="ffffff"/>
                </a:solidFill>
                <a:latin typeface="Montserrat SemiBold"/>
                <a:ea typeface="Montserrat Medium"/>
              </a:rPr>
              <a:t>Умный экстрактор</a:t>
            </a:r>
            <a:endParaRPr b="0" lang="ru-RU" sz="7200" spc="-1" strike="noStrike">
              <a:latin typeface="Arial"/>
            </a:endParaRPr>
          </a:p>
          <a:p>
            <a:pPr>
              <a:lnSpc>
                <a:spcPts val="10800"/>
              </a:lnSpc>
            </a:pPr>
            <a:r>
              <a:rPr b="1" lang="ru-RU" sz="7200" spc="-1" strike="noStrike">
                <a:solidFill>
                  <a:srgbClr val="ffffff"/>
                </a:solidFill>
                <a:latin typeface="Montserrat SemiBold"/>
                <a:ea typeface="Montserrat Medium"/>
              </a:rPr>
              <a:t>документов</a:t>
            </a:r>
            <a:endParaRPr b="0" lang="ru-RU" sz="7200" spc="-1" strike="noStrike">
              <a:latin typeface="Arial"/>
            </a:endParaRPr>
          </a:p>
          <a:p>
            <a:pPr>
              <a:lnSpc>
                <a:spcPts val="10800"/>
              </a:lnSpc>
            </a:pPr>
            <a:r>
              <a:rPr b="1" lang="ru-RU" sz="7200" spc="-1" strike="noStrike">
                <a:solidFill>
                  <a:srgbClr val="ffffff"/>
                </a:solidFill>
                <a:latin typeface="Montserrat SemiBold"/>
                <a:ea typeface="DejaVu Sans"/>
              </a:rPr>
              <a:t>«Книжный Червь»</a:t>
            </a:r>
            <a:endParaRPr b="0" lang="ru-RU" sz="7200" spc="-1" strike="noStrike">
              <a:latin typeface="Arial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11468160" y="3962880"/>
            <a:ext cx="6552360" cy="212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1" lang="ru-RU" sz="4000" spc="-75" strike="noStrike">
                <a:solidFill>
                  <a:srgbClr val="325ca8"/>
                </a:solidFill>
                <a:latin typeface="Montserrat"/>
                <a:ea typeface="Montserrat Bold"/>
              </a:rPr>
              <a:t>Верниковский Виталий Викторович</a:t>
            </a:r>
            <a:endParaRPr b="0" lang="ru-RU" sz="4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400" spc="-75" strike="noStrike">
                <a:solidFill>
                  <a:srgbClr val="325ca8"/>
                </a:solidFill>
                <a:latin typeface="Montserrat Medium"/>
                <a:ea typeface="Montserrat Regular"/>
              </a:rPr>
              <a:t>ГБОУ Школа № 1329, </a:t>
            </a:r>
            <a:br/>
            <a:r>
              <a:rPr b="0" lang="ru-RU" sz="2400" spc="-75" strike="noStrike">
                <a:solidFill>
                  <a:srgbClr val="325ca8"/>
                </a:solidFill>
                <a:latin typeface="Montserrat Medium"/>
                <a:ea typeface="Montserrat Regular"/>
              </a:rPr>
              <a:t>10 «Т» класс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46" name="CustomShape 3"/>
          <p:cNvSpPr/>
          <p:nvPr/>
        </p:nvSpPr>
        <p:spPr>
          <a:xfrm>
            <a:off x="11468160" y="6772320"/>
            <a:ext cx="6552360" cy="234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0" lang="ru-RU" sz="2400" spc="-75" strike="noStrike">
                <a:solidFill>
                  <a:srgbClr val="5cc1cd"/>
                </a:solidFill>
                <a:latin typeface="Montserrat Medium"/>
                <a:ea typeface="Montserrat Regular"/>
              </a:rPr>
              <a:t>Руководитель проекта: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400" spc="-75" strike="noStrike">
                <a:solidFill>
                  <a:srgbClr val="325ca8"/>
                </a:solidFill>
                <a:latin typeface="Montserrat Medium"/>
                <a:ea typeface="Montserrat Regular"/>
              </a:rPr>
              <a:t>Преподаватель ДТ «Альтаир»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4000" spc="-75" strike="noStrike">
                <a:solidFill>
                  <a:srgbClr val="325ca8"/>
                </a:solidFill>
                <a:latin typeface="Montserrat"/>
                <a:ea typeface="Montserrat Regular"/>
              </a:rPr>
              <a:t>БОРИСОВ АРТЁМ ИГОРЕВИЧ</a:t>
            </a:r>
            <a:endParaRPr b="0" lang="ru-RU" sz="4000" spc="-1" strike="noStrike">
              <a:latin typeface="Arial"/>
            </a:endParaRPr>
          </a:p>
        </p:txBody>
      </p:sp>
      <p:pic>
        <p:nvPicPr>
          <p:cNvPr id="47" name="Рисунок 9" descr=""/>
          <p:cNvPicPr/>
          <p:nvPr/>
        </p:nvPicPr>
        <p:blipFill>
          <a:blip r:embed="rId2"/>
          <a:stretch/>
        </p:blipFill>
        <p:spPr>
          <a:xfrm>
            <a:off x="16075800" y="160200"/>
            <a:ext cx="1944720" cy="1374480"/>
          </a:xfrm>
          <a:prstGeom prst="rect">
            <a:avLst/>
          </a:prstGeom>
          <a:ln>
            <a:noFill/>
          </a:ln>
        </p:spPr>
      </p:pic>
      <p:sp>
        <p:nvSpPr>
          <p:cNvPr id="48" name="Line 4"/>
          <p:cNvSpPr/>
          <p:nvPr/>
        </p:nvSpPr>
        <p:spPr>
          <a:xfrm flipH="1">
            <a:off x="11467800" y="3809880"/>
            <a:ext cx="6820200" cy="0"/>
          </a:xfrm>
          <a:prstGeom prst="line">
            <a:avLst/>
          </a:prstGeom>
          <a:ln w="38160">
            <a:solidFill>
              <a:srgbClr val="5cc1c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Line 5"/>
          <p:cNvSpPr/>
          <p:nvPr/>
        </p:nvSpPr>
        <p:spPr>
          <a:xfrm flipH="1">
            <a:off x="11467800" y="7341840"/>
            <a:ext cx="6838920" cy="0"/>
          </a:xfrm>
          <a:prstGeom prst="line">
            <a:avLst/>
          </a:prstGeom>
          <a:ln w="38160">
            <a:solidFill>
              <a:srgbClr val="5cc1c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CustomShape 6"/>
          <p:cNvSpPr/>
          <p:nvPr/>
        </p:nvSpPr>
        <p:spPr>
          <a:xfrm>
            <a:off x="11468160" y="1610640"/>
            <a:ext cx="6552360" cy="212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0" lang="ru-RU" sz="2400" spc="-75" strike="noStrike">
                <a:solidFill>
                  <a:srgbClr val="5cc1cd"/>
                </a:solidFill>
                <a:latin typeface="Montserrat Medium"/>
                <a:ea typeface="Montserrat Regular"/>
              </a:rPr>
              <a:t>Проект выполнил(а):</a:t>
            </a:r>
            <a:endParaRPr b="0" lang="ru-RU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alphaModFix amt="80000"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1238760" y="2740680"/>
            <a:ext cx="11432880" cy="633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4320"/>
              </a:lnSpc>
              <a:spcAft>
                <a:spcPts val="2401"/>
              </a:spcAft>
            </a:pPr>
            <a:r>
              <a:rPr b="0" lang="ru-RU" sz="3200" spc="-1" strike="noStrike">
                <a:solidFill>
                  <a:srgbClr val="000000"/>
                </a:solidFill>
                <a:latin typeface="Montserrat Medium"/>
                <a:ea typeface="Inter Regular"/>
              </a:rPr>
              <a:t>Языковые модели ошибаются в узких темах без доступа к проверенным источникам.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ts val="4320"/>
              </a:lnSpc>
              <a:spcAft>
                <a:spcPts val="2401"/>
              </a:spcAft>
            </a:pPr>
            <a:r>
              <a:rPr b="0" lang="ru-RU" sz="3200" spc="-1" strike="noStrike">
                <a:solidFill>
                  <a:srgbClr val="000000"/>
                </a:solidFill>
                <a:latin typeface="Montserrat Medium"/>
                <a:ea typeface="Inter Regular"/>
              </a:rPr>
              <a:t>Классический RAG теряет целостность: темы перемешаны, часть важного упускается.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ts val="4320"/>
              </a:lnSpc>
              <a:spcAft>
                <a:spcPts val="2401"/>
              </a:spcAft>
            </a:pPr>
            <a:r>
              <a:rPr b="0" lang="ru-RU" sz="3200" spc="-1" strike="noStrike">
                <a:solidFill>
                  <a:srgbClr val="000000"/>
                </a:solidFill>
                <a:latin typeface="Montserrat Medium"/>
                <a:ea typeface="Inter Regular"/>
              </a:rPr>
              <a:t>Проект сжимает корпус PDF-документов в связный конспект и смысловой граф тем.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ts val="4320"/>
              </a:lnSpc>
              <a:spcAft>
                <a:spcPts val="2401"/>
              </a:spcAft>
            </a:pPr>
            <a:r>
              <a:rPr b="0" lang="ru-RU" sz="3200" spc="-1" strike="noStrike">
                <a:solidFill>
                  <a:srgbClr val="000000"/>
                </a:solidFill>
                <a:latin typeface="Montserrat Medium"/>
                <a:ea typeface="Inter Regular"/>
              </a:rPr>
              <a:t>Это повышает точность ответов на качественных задачах без дообучения и сохраняет структуру больших корпусов.</a:t>
            </a:r>
            <a:endParaRPr b="0" lang="ru-RU" sz="3200" spc="-1" strike="noStrike">
              <a:latin typeface="Arial"/>
            </a:endParaRPr>
          </a:p>
        </p:txBody>
      </p:sp>
      <p:pic>
        <p:nvPicPr>
          <p:cNvPr id="52" name="Рисунок 3" descr=""/>
          <p:cNvPicPr/>
          <p:nvPr/>
        </p:nvPicPr>
        <p:blipFill>
          <a:blip r:embed="rId2"/>
          <a:stretch/>
        </p:blipFill>
        <p:spPr>
          <a:xfrm>
            <a:off x="16075800" y="619200"/>
            <a:ext cx="1944720" cy="1374480"/>
          </a:xfrm>
          <a:prstGeom prst="rect">
            <a:avLst/>
          </a:prstGeom>
          <a:ln>
            <a:noFill/>
          </a:ln>
        </p:spPr>
      </p:pic>
      <p:sp>
        <p:nvSpPr>
          <p:cNvPr id="53" name="CustomShape 2"/>
          <p:cNvSpPr/>
          <p:nvPr/>
        </p:nvSpPr>
        <p:spPr>
          <a:xfrm>
            <a:off x="-1579320" y="619200"/>
            <a:ext cx="10722600" cy="13744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353a0"/>
              </a:gs>
              <a:gs pos="100000">
                <a:srgbClr val="3392c3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4" name="CustomShape 3"/>
          <p:cNvSpPr/>
          <p:nvPr/>
        </p:nvSpPr>
        <p:spPr>
          <a:xfrm>
            <a:off x="1143000" y="720720"/>
            <a:ext cx="8187480" cy="10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1" lang="ru-RU" sz="7200" spc="-1" strike="noStrike">
                <a:solidFill>
                  <a:srgbClr val="ffffff"/>
                </a:solidFill>
                <a:latin typeface="Montserrat"/>
                <a:ea typeface="Inter Medium"/>
              </a:rPr>
              <a:t>Актуальность</a:t>
            </a:r>
            <a:endParaRPr b="0" lang="ru-RU" sz="7200" spc="-1" strike="noStrike">
              <a:latin typeface="Arial"/>
            </a:endParaRPr>
          </a:p>
        </p:txBody>
      </p:sp>
      <p:sp>
        <p:nvSpPr>
          <p:cNvPr id="55" name="CustomShape 4"/>
          <p:cNvSpPr/>
          <p:nvPr/>
        </p:nvSpPr>
        <p:spPr>
          <a:xfrm>
            <a:off x="17349840" y="9863640"/>
            <a:ext cx="104796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fld id="{56C37216-1662-4544-BAA4-70B15D8D4BE1}" type="slidenum">
              <a:rPr b="0" lang="ru-RU" sz="2600" spc="-1" strike="noStrike">
                <a:solidFill>
                  <a:srgbClr val="3353a0"/>
                </a:solidFill>
                <a:latin typeface="Montserrat Medium"/>
                <a:ea typeface="DejaVu Sans"/>
              </a:rPr>
              <a:t>&lt;number&gt;</a:t>
            </a:fld>
            <a:r>
              <a:rPr b="0" lang="ru-RU" sz="2600" spc="-1" strike="noStrike">
                <a:solidFill>
                  <a:srgbClr val="3353a0"/>
                </a:solidFill>
                <a:latin typeface="Montserrat Medium"/>
                <a:ea typeface="DejaVu Sans"/>
              </a:rPr>
              <a:t> / 7</a:t>
            </a:r>
            <a:endParaRPr b="0" lang="ru-RU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alphaModFix amt="80000"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-375120" y="1194840"/>
            <a:ext cx="5243760" cy="13744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353a0"/>
              </a:gs>
              <a:gs pos="100000">
                <a:srgbClr val="3392c3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" name="CustomShape 2"/>
          <p:cNvSpPr/>
          <p:nvPr/>
        </p:nvSpPr>
        <p:spPr>
          <a:xfrm>
            <a:off x="1143000" y="3187080"/>
            <a:ext cx="6876360" cy="551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CustomShape 3"/>
          <p:cNvSpPr/>
          <p:nvPr/>
        </p:nvSpPr>
        <p:spPr>
          <a:xfrm>
            <a:off x="9932760" y="1393920"/>
            <a:ext cx="6685920" cy="10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8101"/>
              </a:lnSpc>
            </a:pPr>
            <a:r>
              <a:rPr b="1" lang="ru-RU" sz="5400" spc="-1" strike="noStrike">
                <a:solidFill>
                  <a:srgbClr val="325ca8"/>
                </a:solidFill>
                <a:latin typeface="Montserrat"/>
                <a:ea typeface="Inter Medium"/>
              </a:rPr>
              <a:t>Задачи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59" name="CustomShape 4"/>
          <p:cNvSpPr/>
          <p:nvPr/>
        </p:nvSpPr>
        <p:spPr>
          <a:xfrm>
            <a:off x="1143000" y="1393920"/>
            <a:ext cx="2660400" cy="10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8101"/>
              </a:lnSpc>
            </a:pPr>
            <a:r>
              <a:rPr b="1" lang="ru-RU" sz="7200" spc="-1" strike="noStrike">
                <a:solidFill>
                  <a:srgbClr val="ffffff"/>
                </a:solidFill>
                <a:latin typeface="Montserrat"/>
                <a:ea typeface="Inter Medium"/>
              </a:rPr>
              <a:t>Цель</a:t>
            </a:r>
            <a:endParaRPr b="0" lang="ru-RU" sz="7200" spc="-1" strike="noStrike">
              <a:latin typeface="Arial"/>
            </a:endParaRPr>
          </a:p>
        </p:txBody>
      </p:sp>
      <p:sp>
        <p:nvSpPr>
          <p:cNvPr id="60" name="CustomShape 5"/>
          <p:cNvSpPr/>
          <p:nvPr/>
        </p:nvSpPr>
        <p:spPr>
          <a:xfrm>
            <a:off x="9932760" y="3187080"/>
            <a:ext cx="6876360" cy="394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514440" indent="-513720">
              <a:lnSpc>
                <a:spcPts val="4320"/>
              </a:lnSpc>
              <a:spcAft>
                <a:spcPts val="1199"/>
              </a:spcAft>
              <a:buClr>
                <a:srgbClr val="1c1628"/>
              </a:buClr>
              <a:buFont typeface="StarSymbol"/>
              <a:buAutoNum type="arabicPeriod"/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Сбор корпуса PDF-документов из открытых источников</a:t>
            </a:r>
            <a:endParaRPr b="0" lang="ru-RU" sz="3200" spc="-1" strike="noStrike">
              <a:latin typeface="Arial"/>
            </a:endParaRPr>
          </a:p>
          <a:p>
            <a:pPr marL="514440" indent="-513720">
              <a:lnSpc>
                <a:spcPts val="4320"/>
              </a:lnSpc>
              <a:spcAft>
                <a:spcPts val="1199"/>
              </a:spcAft>
              <a:buClr>
                <a:srgbClr val="1c1628"/>
              </a:buClr>
              <a:buFont typeface="StarSymbol"/>
              <a:buAutoNum type="arabicPeriod"/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Преобразование документов в очищенный текст и смысловой граф тем</a:t>
            </a:r>
            <a:endParaRPr b="0" lang="ru-RU" sz="3200" spc="-1" strike="noStrike">
              <a:latin typeface="Arial"/>
            </a:endParaRPr>
          </a:p>
          <a:p>
            <a:pPr marL="514440" indent="-513720">
              <a:lnSpc>
                <a:spcPts val="4320"/>
              </a:lnSpc>
              <a:spcAft>
                <a:spcPts val="1199"/>
              </a:spcAft>
              <a:buClr>
                <a:srgbClr val="1c1628"/>
              </a:buClr>
              <a:buFont typeface="StarSymbol"/>
              <a:buAutoNum type="arabicPeriod"/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Создание инструментов обращения к графу и конспекту для ИИ-агента</a:t>
            </a:r>
            <a:endParaRPr b="0" lang="ru-RU" sz="3200" spc="-1" strike="noStrike">
              <a:latin typeface="Arial"/>
            </a:endParaRPr>
          </a:p>
          <a:p>
            <a:pPr marL="514440" indent="-513720">
              <a:lnSpc>
                <a:spcPts val="4320"/>
              </a:lnSpc>
              <a:spcAft>
                <a:spcPts val="1199"/>
              </a:spcAft>
              <a:buClr>
                <a:srgbClr val="1c1628"/>
              </a:buClr>
              <a:buFont typeface="StarSymbol"/>
              <a:buAutoNum type="arabicPeriod"/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Тестирование и сравнение с классическим RAG</a:t>
            </a:r>
            <a:endParaRPr b="0" lang="ru-RU" sz="3200" spc="-1" strike="noStrike">
              <a:latin typeface="Arial"/>
            </a:endParaRPr>
          </a:p>
        </p:txBody>
      </p:sp>
      <p:pic>
        <p:nvPicPr>
          <p:cNvPr id="61" name="Рисунок 18" descr=""/>
          <p:cNvPicPr/>
          <p:nvPr/>
        </p:nvPicPr>
        <p:blipFill>
          <a:blip r:embed="rId2"/>
          <a:stretch/>
        </p:blipFill>
        <p:spPr>
          <a:xfrm>
            <a:off x="16075800" y="160200"/>
            <a:ext cx="1944720" cy="1374480"/>
          </a:xfrm>
          <a:prstGeom prst="rect">
            <a:avLst/>
          </a:prstGeom>
          <a:ln>
            <a:noFill/>
          </a:ln>
        </p:spPr>
      </p:pic>
      <p:sp>
        <p:nvSpPr>
          <p:cNvPr id="62" name="CustomShape 6"/>
          <p:cNvSpPr/>
          <p:nvPr/>
        </p:nvSpPr>
        <p:spPr>
          <a:xfrm>
            <a:off x="9845640" y="2459520"/>
            <a:ext cx="8653320" cy="131040"/>
          </a:xfrm>
          <a:prstGeom prst="rect">
            <a:avLst/>
          </a:prstGeom>
          <a:gradFill rotWithShape="0">
            <a:gsLst>
              <a:gs pos="0">
                <a:srgbClr val="3254a2"/>
              </a:gs>
              <a:gs pos="100000">
                <a:srgbClr val="3392c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3" name="CustomShape 7"/>
          <p:cNvSpPr/>
          <p:nvPr/>
        </p:nvSpPr>
        <p:spPr>
          <a:xfrm>
            <a:off x="17349840" y="9863640"/>
            <a:ext cx="104796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fld id="{E15B19D7-ED6C-4E01-8E0B-5EC53D006E68}" type="slidenum">
              <a:rPr b="0" lang="ru-RU" sz="2600" spc="-1" strike="noStrike">
                <a:solidFill>
                  <a:srgbClr val="3353a0"/>
                </a:solidFill>
                <a:latin typeface="Montserrat Medium"/>
                <a:ea typeface="DejaVu Sans"/>
              </a:rPr>
              <a:t>&lt;number&gt;</a:t>
            </a:fld>
            <a:r>
              <a:rPr b="0" lang="ru-RU" sz="2600" spc="-1" strike="noStrike">
                <a:solidFill>
                  <a:srgbClr val="3353a0"/>
                </a:solidFill>
                <a:latin typeface="Montserrat Medium"/>
                <a:ea typeface="DejaVu Sans"/>
              </a:rPr>
              <a:t> / 7</a:t>
            </a:r>
            <a:endParaRPr b="0" lang="ru-RU" sz="2600" spc="-1" strike="noStrike">
              <a:latin typeface="Arial"/>
            </a:endParaRPr>
          </a:p>
        </p:txBody>
      </p:sp>
      <p:sp>
        <p:nvSpPr>
          <p:cNvPr id="64" name="CustomShape 8"/>
          <p:cNvSpPr/>
          <p:nvPr/>
        </p:nvSpPr>
        <p:spPr>
          <a:xfrm>
            <a:off x="320040" y="2985840"/>
            <a:ext cx="6231600" cy="252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Цель работы — создание и оценка алгоритма, альтернативного классическому RAG, для повышения точности ответов модели на профильных задачах.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alphaModFix amt="80000"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Рисунок 3" descr=""/>
          <p:cNvPicPr/>
          <p:nvPr/>
        </p:nvPicPr>
        <p:blipFill>
          <a:blip r:embed="rId2"/>
          <a:stretch/>
        </p:blipFill>
        <p:spPr>
          <a:xfrm>
            <a:off x="16075800" y="619200"/>
            <a:ext cx="1944720" cy="1374480"/>
          </a:xfrm>
          <a:prstGeom prst="rect">
            <a:avLst/>
          </a:prstGeom>
          <a:ln>
            <a:noFill/>
          </a:ln>
        </p:spPr>
      </p:pic>
      <p:sp>
        <p:nvSpPr>
          <p:cNvPr id="66" name="CustomShape 1"/>
          <p:cNvSpPr/>
          <p:nvPr/>
        </p:nvSpPr>
        <p:spPr>
          <a:xfrm>
            <a:off x="721080" y="4332600"/>
            <a:ext cx="16330680" cy="484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4000"/>
              </a:lnSpc>
              <a:spcAft>
                <a:spcPts val="601"/>
              </a:spcAft>
            </a:pPr>
            <a:r>
              <a:rPr b="0" lang="ru-RU" sz="3200" spc="-1" strike="noStrike">
                <a:solidFill>
                  <a:srgbClr val="000000"/>
                </a:solidFill>
                <a:latin typeface="Montserrat Medium"/>
                <a:ea typeface="Inter Regular"/>
              </a:rPr>
              <a:t>Сбор корпуса: поиск открытых PDF-документов через DuckDuckGo и отбор релевантных источников локальной моделью Ollama.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ts val="4000"/>
              </a:lnSpc>
              <a:spcAft>
                <a:spcPts val="601"/>
              </a:spcAft>
            </a:pPr>
            <a:r>
              <a:rPr b="0" lang="ru-RU" sz="3200" spc="-1" strike="noStrike">
                <a:solidFill>
                  <a:srgbClr val="000000"/>
                </a:solidFill>
                <a:latin typeface="Montserrat Medium"/>
                <a:ea typeface="DejaVu Sans"/>
              </a:rPr>
              <a:t>Извлечение текста: Docling и PyMuPDF, OCR и распознавание формул, очистка от колонтитулов и мусора.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ts val="4000"/>
              </a:lnSpc>
              <a:spcAft>
                <a:spcPts val="601"/>
              </a:spcAft>
            </a:pPr>
            <a:r>
              <a:rPr b="0" lang="ru-RU" sz="3200" spc="-1" strike="noStrike">
                <a:solidFill>
                  <a:srgbClr val="000000"/>
                </a:solidFill>
                <a:latin typeface="Montserrat Medium"/>
                <a:ea typeface="DejaVu Sans"/>
              </a:rPr>
              <a:t>Структурирование: разбиение материала на темы, построение смыслового графа и конспект по каждой теме.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ts val="4000"/>
              </a:lnSpc>
              <a:spcAft>
                <a:spcPts val="601"/>
              </a:spcAft>
            </a:pPr>
            <a:r>
              <a:rPr b="0" lang="ru-RU" sz="3200" spc="-1" strike="noStrike">
                <a:solidFill>
                  <a:srgbClr val="000000"/>
                </a:solidFill>
                <a:latin typeface="Montserrat Medium"/>
                <a:ea typeface="DejaVu Sans"/>
              </a:rPr>
              <a:t>Инструменты и оценка: доступ ИИ-агента к графу, бенчмарк и сравнение с классическим RAG.</a:t>
            </a:r>
            <a:endParaRPr b="0" lang="ru-RU" sz="3200" spc="-1" strike="noStrike">
              <a:latin typeface="Arial"/>
            </a:endParaRPr>
          </a:p>
        </p:txBody>
      </p:sp>
      <p:sp>
        <p:nvSpPr>
          <p:cNvPr id="67" name="CustomShape 2"/>
          <p:cNvSpPr/>
          <p:nvPr/>
        </p:nvSpPr>
        <p:spPr>
          <a:xfrm>
            <a:off x="1143000" y="101880"/>
            <a:ext cx="10383120" cy="212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1" lang="ru-RU" sz="7200" spc="-1" strike="noStrike">
                <a:solidFill>
                  <a:srgbClr val="325ba7"/>
                </a:solidFill>
                <a:latin typeface="Montserrat"/>
                <a:ea typeface="Inter Medium"/>
              </a:rPr>
              <a:t>Методика</a:t>
            </a:r>
            <a:endParaRPr b="0" lang="ru-RU" sz="7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7200" spc="-1" strike="noStrike">
                <a:solidFill>
                  <a:srgbClr val="325ba7"/>
                </a:solidFill>
                <a:latin typeface="Montserrat"/>
                <a:ea typeface="Inter Medium"/>
              </a:rPr>
              <a:t>выполнения работы</a:t>
            </a:r>
            <a:endParaRPr b="0" lang="ru-RU" sz="7200" spc="-1" strike="noStrike">
              <a:latin typeface="Arial"/>
            </a:endParaRPr>
          </a:p>
        </p:txBody>
      </p:sp>
      <p:sp>
        <p:nvSpPr>
          <p:cNvPr id="68" name="CustomShape 3"/>
          <p:cNvSpPr/>
          <p:nvPr/>
        </p:nvSpPr>
        <p:spPr>
          <a:xfrm>
            <a:off x="1080" y="3600000"/>
            <a:ext cx="12670560" cy="131040"/>
          </a:xfrm>
          <a:prstGeom prst="rect">
            <a:avLst/>
          </a:prstGeom>
          <a:gradFill rotWithShape="0">
            <a:gsLst>
              <a:gs pos="0">
                <a:srgbClr val="3254a2"/>
              </a:gs>
              <a:gs pos="100000">
                <a:srgbClr val="3392c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" name="CustomShape 4"/>
          <p:cNvSpPr/>
          <p:nvPr/>
        </p:nvSpPr>
        <p:spPr>
          <a:xfrm>
            <a:off x="17349840" y="9863640"/>
            <a:ext cx="104796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fld id="{77F9130D-0184-441D-BD05-5DF7F450AA86}" type="slidenum">
              <a:rPr b="0" lang="ru-RU" sz="2600" spc="-1" strike="noStrike">
                <a:solidFill>
                  <a:srgbClr val="3353a0"/>
                </a:solidFill>
                <a:latin typeface="Montserrat Medium"/>
                <a:ea typeface="DejaVu Sans"/>
              </a:rPr>
              <a:t>&lt;number&gt;</a:t>
            </a:fld>
            <a:r>
              <a:rPr b="0" lang="ru-RU" sz="2600" spc="-1" strike="noStrike">
                <a:solidFill>
                  <a:srgbClr val="3353a0"/>
                </a:solidFill>
                <a:latin typeface="Montserrat Medium"/>
                <a:ea typeface="DejaVu Sans"/>
              </a:rPr>
              <a:t> / 7</a:t>
            </a:r>
            <a:endParaRPr b="0" lang="ru-RU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alphaModFix amt="80000"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1143000" y="2584080"/>
            <a:ext cx="6876360" cy="5486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4320"/>
              </a:lnSpc>
              <a:spcAft>
                <a:spcPts val="1800"/>
              </a:spcAft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Открытые PDF-корпуса: учебники, научные статьи и книги открытого доступа.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ts val="4320"/>
              </a:lnSpc>
              <a:spcAft>
                <a:spcPts val="1800"/>
              </a:spcAft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DejaVu Sans"/>
              </a:rPr>
              <a:t>Научные публикации по RAG, графам знаний и обработке документов.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ts val="4320"/>
              </a:lnSpc>
              <a:spcAft>
                <a:spcPts val="1800"/>
              </a:spcAft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DejaVu Sans"/>
              </a:rPr>
              <a:t>Вопросы и эталонные ответы для бенчмарка.</a:t>
            </a:r>
            <a:endParaRPr b="0" lang="ru-RU" sz="3200" spc="-1" strike="noStrike">
              <a:latin typeface="Arial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9932760" y="3268800"/>
            <a:ext cx="6685920" cy="457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4320"/>
              </a:lnSpc>
              <a:spcAft>
                <a:spcPts val="1800"/>
              </a:spcAft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Ollama — для запуска модели, Python 3 — язык разработки.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ts val="4320"/>
              </a:lnSpc>
              <a:spcAft>
                <a:spcPts val="1800"/>
              </a:spcAft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Модель Qwen3.8-27B (GGUF) и GPU NVIDIA RTX 3060.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ts val="4320"/>
              </a:lnSpc>
              <a:spcAft>
                <a:spcPts val="1800"/>
              </a:spcAft>
            </a:pPr>
            <a:r>
              <a:rPr b="0" lang="ru-RU" sz="3200" spc="-1" strike="noStrike">
                <a:solidFill>
                  <a:srgbClr val="000000"/>
                </a:solidFill>
                <a:latin typeface="Montserrat Medium"/>
                <a:ea typeface="DejaVu Sans"/>
              </a:rPr>
              <a:t>Библиотеки: Docling, PyMuPDF, DuckDuckGo Search, Git.</a:t>
            </a:r>
            <a:endParaRPr b="0" lang="ru-RU" sz="3200" spc="-1" strike="noStrike">
              <a:latin typeface="Arial"/>
            </a:endParaRPr>
          </a:p>
        </p:txBody>
      </p:sp>
      <p:sp>
        <p:nvSpPr>
          <p:cNvPr id="72" name="CustomShape 3"/>
          <p:cNvSpPr/>
          <p:nvPr/>
        </p:nvSpPr>
        <p:spPr>
          <a:xfrm>
            <a:off x="9932760" y="1046160"/>
            <a:ext cx="6685920" cy="137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1" lang="ru-RU" sz="4400" spc="-1" strike="noStrike">
                <a:solidFill>
                  <a:srgbClr val="325ca8"/>
                </a:solidFill>
                <a:latin typeface="Montserrat"/>
                <a:ea typeface="Inter Medium"/>
              </a:rPr>
              <a:t>Оборудование </a:t>
            </a:r>
            <a:br/>
            <a:r>
              <a:rPr b="1" lang="ru-RU" sz="4400" spc="-1" strike="noStrike">
                <a:solidFill>
                  <a:srgbClr val="325ca8"/>
                </a:solidFill>
                <a:latin typeface="Montserrat"/>
                <a:ea typeface="Inter Medium"/>
              </a:rPr>
              <a:t>и ПО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73" name="Line 4"/>
          <p:cNvSpPr/>
          <p:nvPr/>
        </p:nvSpPr>
        <p:spPr>
          <a:xfrm>
            <a:off x="9932400" y="2627640"/>
            <a:ext cx="4593960" cy="0"/>
          </a:xfrm>
          <a:prstGeom prst="line">
            <a:avLst/>
          </a:prstGeom>
          <a:ln w="38160">
            <a:solidFill>
              <a:srgbClr val="5cc1c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" name="CustomShape 5"/>
          <p:cNvSpPr/>
          <p:nvPr/>
        </p:nvSpPr>
        <p:spPr>
          <a:xfrm>
            <a:off x="1143000" y="1046160"/>
            <a:ext cx="6685920" cy="71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1" lang="ru-RU" sz="4400" spc="-1" strike="noStrike">
                <a:solidFill>
                  <a:srgbClr val="325ca8"/>
                </a:solidFill>
                <a:latin typeface="Montserrat"/>
                <a:ea typeface="Inter Medium"/>
              </a:rPr>
              <a:t>Материалы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75" name="Рисунок 15" descr=""/>
          <p:cNvPicPr/>
          <p:nvPr/>
        </p:nvPicPr>
        <p:blipFill>
          <a:blip r:embed="rId2"/>
          <a:stretch/>
        </p:blipFill>
        <p:spPr>
          <a:xfrm>
            <a:off x="16075800" y="160200"/>
            <a:ext cx="1944720" cy="1374480"/>
          </a:xfrm>
          <a:prstGeom prst="rect">
            <a:avLst/>
          </a:prstGeom>
          <a:ln>
            <a:noFill/>
          </a:ln>
        </p:spPr>
      </p:pic>
      <p:sp>
        <p:nvSpPr>
          <p:cNvPr id="76" name="CustomShape 6"/>
          <p:cNvSpPr/>
          <p:nvPr/>
        </p:nvSpPr>
        <p:spPr>
          <a:xfrm>
            <a:off x="9845640" y="2584080"/>
            <a:ext cx="8441640" cy="131040"/>
          </a:xfrm>
          <a:prstGeom prst="rect">
            <a:avLst/>
          </a:prstGeom>
          <a:gradFill rotWithShape="0">
            <a:gsLst>
              <a:gs pos="0">
                <a:srgbClr val="3254a2"/>
              </a:gs>
              <a:gs pos="100000">
                <a:srgbClr val="3392c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CustomShape 7"/>
          <p:cNvSpPr/>
          <p:nvPr/>
        </p:nvSpPr>
        <p:spPr>
          <a:xfrm rot="10800000">
            <a:off x="720" y="1870200"/>
            <a:ext cx="8653320" cy="131040"/>
          </a:xfrm>
          <a:prstGeom prst="rect">
            <a:avLst/>
          </a:prstGeom>
          <a:gradFill rotWithShape="0">
            <a:gsLst>
              <a:gs pos="0">
                <a:srgbClr val="3254a2"/>
              </a:gs>
              <a:gs pos="100000">
                <a:srgbClr val="3392c3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CustomShape 8"/>
          <p:cNvSpPr/>
          <p:nvPr/>
        </p:nvSpPr>
        <p:spPr>
          <a:xfrm>
            <a:off x="17349840" y="9863640"/>
            <a:ext cx="104796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fld id="{83EFC6AC-2FF1-4614-B9A4-23C301DAA228}" type="slidenum">
              <a:rPr b="0" lang="ru-RU" sz="2600" spc="-1" strike="noStrike">
                <a:solidFill>
                  <a:srgbClr val="3353a0"/>
                </a:solidFill>
                <a:latin typeface="Montserrat Medium"/>
                <a:ea typeface="DejaVu Sans"/>
              </a:rPr>
              <a:t>&lt;number&gt;</a:t>
            </a:fld>
            <a:r>
              <a:rPr b="0" lang="ru-RU" sz="2600" spc="-1" strike="noStrike">
                <a:solidFill>
                  <a:srgbClr val="3353a0"/>
                </a:solidFill>
                <a:latin typeface="Montserrat Medium"/>
                <a:ea typeface="DejaVu Sans"/>
              </a:rPr>
              <a:t> / 7</a:t>
            </a:r>
            <a:endParaRPr b="0" lang="ru-RU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alphaModFix amt="80000"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-921240" y="619200"/>
            <a:ext cx="8433360" cy="13744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353a0"/>
              </a:gs>
              <a:gs pos="100000">
                <a:srgbClr val="3392c3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" name="CustomShape 2"/>
          <p:cNvSpPr/>
          <p:nvPr/>
        </p:nvSpPr>
        <p:spPr>
          <a:xfrm>
            <a:off x="1907280" y="2592000"/>
            <a:ext cx="9143640" cy="640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4320"/>
              </a:lnSpc>
              <a:spcAft>
                <a:spcPts val="1199"/>
              </a:spcAft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Результатом работы станет полный пайплайн, который включает:</a:t>
            </a:r>
            <a:endParaRPr b="0" lang="ru-RU" sz="3200" spc="-1" strike="noStrike">
              <a:latin typeface="Arial"/>
            </a:endParaRPr>
          </a:p>
          <a:p>
            <a:pPr marL="216000" indent="-215640">
              <a:lnSpc>
                <a:spcPts val="4320"/>
              </a:lnSpc>
              <a:spcAft>
                <a:spcPts val="1199"/>
              </a:spcAft>
              <a:buClr>
                <a:srgbClr val="1c1628"/>
              </a:buClr>
              <a:buFont typeface="Wingdings" charset="2"/>
              <a:buChar char=""/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 </a:t>
            </a: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Автоматический механизм сбора корпуса PDF-документов</a:t>
            </a:r>
            <a:endParaRPr b="0" lang="ru-RU" sz="3200" spc="-1" strike="noStrike">
              <a:latin typeface="Arial"/>
            </a:endParaRPr>
          </a:p>
          <a:p>
            <a:pPr marL="216000" indent="-215640">
              <a:lnSpc>
                <a:spcPts val="4320"/>
              </a:lnSpc>
              <a:spcAft>
                <a:spcPts val="1199"/>
              </a:spcAft>
              <a:buClr>
                <a:srgbClr val="1c1628"/>
              </a:buClr>
              <a:buFont typeface="Wingdings" charset="2"/>
              <a:buChar char=""/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 </a:t>
            </a: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Алгоритм построения смыслового графа и конспекта</a:t>
            </a:r>
            <a:endParaRPr b="0" lang="ru-RU" sz="3200" spc="-1" strike="noStrike">
              <a:latin typeface="Arial"/>
            </a:endParaRPr>
          </a:p>
          <a:p>
            <a:pPr marL="216000" indent="-215640">
              <a:lnSpc>
                <a:spcPts val="4320"/>
              </a:lnSpc>
              <a:spcAft>
                <a:spcPts val="1199"/>
              </a:spcAft>
              <a:buClr>
                <a:srgbClr val="1c1628"/>
              </a:buClr>
              <a:buFont typeface="Wingdings" charset="2"/>
              <a:buChar char=""/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 </a:t>
            </a: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Инструменты обращения к графу и конспекту для ИИ-агента</a:t>
            </a:r>
            <a:endParaRPr b="0" lang="ru-RU" sz="3200" spc="-1" strike="noStrike">
              <a:latin typeface="Arial"/>
            </a:endParaRPr>
          </a:p>
          <a:p>
            <a:pPr>
              <a:lnSpc>
                <a:spcPts val="4320"/>
              </a:lnSpc>
              <a:spcAft>
                <a:spcPts val="1199"/>
              </a:spcAft>
            </a:pPr>
            <a:r>
              <a:rPr b="0" lang="ru-RU" sz="3200" spc="-1" strike="noStrike">
                <a:solidFill>
                  <a:srgbClr val="000000"/>
                </a:solidFill>
                <a:latin typeface="Montserrat Medium"/>
                <a:ea typeface="DejaVu Sans"/>
              </a:rPr>
              <a:t> </a:t>
            </a:r>
            <a:r>
              <a:rPr b="0" lang="ru-RU" sz="3200" spc="-1" strike="noStrike">
                <a:solidFill>
                  <a:srgbClr val="000000"/>
                </a:solidFill>
                <a:latin typeface="Montserrat Medium"/>
                <a:ea typeface="DejaVu Sans"/>
              </a:rPr>
              <a:t>Бенчмарк сравнения с классическим RAG и оформленные результаты</a:t>
            </a:r>
            <a:endParaRPr b="0" lang="ru-RU" sz="3200" spc="-1" strike="noStrike">
              <a:latin typeface="Arial"/>
            </a:endParaRPr>
          </a:p>
        </p:txBody>
      </p:sp>
      <p:sp>
        <p:nvSpPr>
          <p:cNvPr id="81" name="CustomShape 3"/>
          <p:cNvSpPr/>
          <p:nvPr/>
        </p:nvSpPr>
        <p:spPr>
          <a:xfrm>
            <a:off x="1143000" y="720720"/>
            <a:ext cx="6048000" cy="103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1" lang="ru-RU" sz="7200" spc="-1" strike="noStrike">
                <a:solidFill>
                  <a:srgbClr val="ffffff"/>
                </a:solidFill>
                <a:latin typeface="Montserrat"/>
                <a:ea typeface="Inter Medium"/>
              </a:rPr>
              <a:t>Что будет?</a:t>
            </a:r>
            <a:endParaRPr b="0" lang="ru-RU" sz="7200" spc="-1" strike="noStrike">
              <a:latin typeface="Arial"/>
            </a:endParaRPr>
          </a:p>
        </p:txBody>
      </p:sp>
      <p:pic>
        <p:nvPicPr>
          <p:cNvPr id="82" name="Рисунок 15" descr=""/>
          <p:cNvPicPr/>
          <p:nvPr/>
        </p:nvPicPr>
        <p:blipFill>
          <a:blip r:embed="rId2"/>
          <a:stretch/>
        </p:blipFill>
        <p:spPr>
          <a:xfrm>
            <a:off x="16075800" y="160200"/>
            <a:ext cx="1944720" cy="1374480"/>
          </a:xfrm>
          <a:prstGeom prst="rect">
            <a:avLst/>
          </a:prstGeom>
          <a:ln>
            <a:noFill/>
          </a:ln>
        </p:spPr>
      </p:pic>
      <p:sp>
        <p:nvSpPr>
          <p:cNvPr id="83" name="CustomShape 4"/>
          <p:cNvSpPr/>
          <p:nvPr/>
        </p:nvSpPr>
        <p:spPr>
          <a:xfrm>
            <a:off x="17349840" y="9863640"/>
            <a:ext cx="104796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fld id="{ECFF7610-0BF4-4C8C-88A0-DA75E71672B5}" type="slidenum">
              <a:rPr b="0" lang="ru-RU" sz="2600" spc="-1" strike="noStrike">
                <a:solidFill>
                  <a:srgbClr val="3353a0"/>
                </a:solidFill>
                <a:latin typeface="Montserrat Medium"/>
                <a:ea typeface="DejaVu Sans"/>
              </a:rPr>
              <a:t>&lt;number&gt;</a:t>
            </a:fld>
            <a:r>
              <a:rPr b="0" lang="ru-RU" sz="2600" spc="-1" strike="noStrike">
                <a:solidFill>
                  <a:srgbClr val="3353a0"/>
                </a:solidFill>
                <a:latin typeface="Montserrat Medium"/>
                <a:ea typeface="DejaVu Sans"/>
              </a:rPr>
              <a:t> / 7</a:t>
            </a:r>
            <a:endParaRPr b="0" lang="ru-RU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alphaModFix amt="80000"/>
          </a:blip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1143000" y="3949560"/>
            <a:ext cx="16572600" cy="576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216000" indent="-215640">
              <a:lnSpc>
                <a:spcPts val="432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Lewis, P., Perez, E., Piktus, A., et al. (2020). Retrieval-Augmented Generation for Knowledge-Intensive NLP Tasks. arXiv:2005.11401.</a:t>
            </a:r>
            <a:endParaRPr b="0" lang="ru-RU" sz="3200" spc="-1" strike="noStrike">
              <a:latin typeface="Arial"/>
            </a:endParaRPr>
          </a:p>
          <a:p>
            <a:pPr marL="216000" indent="-215640">
              <a:lnSpc>
                <a:spcPts val="432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Inter Regular"/>
              </a:rPr>
              <a:t>Edge, D., Trinh, H., Cheng, N., et al. (2024). From Local to Global: A Graph RAG Approach to Query-Focused Summarization. arXiv:2404.16130.</a:t>
            </a:r>
            <a:endParaRPr b="0" lang="ru-RU" sz="3200" spc="-1" strike="noStrike">
              <a:latin typeface="Arial"/>
            </a:endParaRPr>
          </a:p>
          <a:p>
            <a:pPr>
              <a:lnSpc>
                <a:spcPts val="4320"/>
              </a:lnSpc>
              <a:spcAft>
                <a:spcPts val="601"/>
              </a:spcAft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DejaVu Sans"/>
              </a:rPr>
              <a:t>Документация Ollama — https://docs.ollama.com/</a:t>
            </a:r>
            <a:endParaRPr b="0" lang="ru-RU" sz="3200" spc="-1" strike="noStrike">
              <a:latin typeface="Arial"/>
            </a:endParaRPr>
          </a:p>
          <a:p>
            <a:pPr marL="216000" indent="-215640">
              <a:lnSpc>
                <a:spcPts val="432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DejaVu Sans"/>
              </a:rPr>
              <a:t>Документация Docling — https://docling-project.github.io/docling/</a:t>
            </a:r>
            <a:endParaRPr b="0" lang="ru-RU" sz="3200" spc="-1" strike="noStrike">
              <a:latin typeface="Arial"/>
            </a:endParaRPr>
          </a:p>
          <a:p>
            <a:pPr marL="216000" indent="-215640">
              <a:lnSpc>
                <a:spcPts val="432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DejaVu Sans"/>
              </a:rPr>
              <a:t>Документация PyMuPDF — https://pymupdf.readthedocs.io/</a:t>
            </a:r>
            <a:endParaRPr b="0" lang="ru-RU" sz="3200" spc="-1" strike="noStrike">
              <a:latin typeface="Arial"/>
            </a:endParaRPr>
          </a:p>
          <a:p>
            <a:pPr marL="216000" indent="-215640">
              <a:lnSpc>
                <a:spcPts val="432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1c1628"/>
                </a:solidFill>
                <a:latin typeface="Montserrat Medium"/>
                <a:ea typeface="DejaVu Sans"/>
              </a:rPr>
              <a:t>DuckDuckGo Search (ddgs) — https://pypi.org/project/ddgs/</a:t>
            </a:r>
            <a:endParaRPr b="0" lang="ru-RU" sz="3200" spc="-1" strike="noStrike">
              <a:latin typeface="Arial"/>
            </a:endParaRPr>
          </a:p>
        </p:txBody>
      </p:sp>
      <p:pic>
        <p:nvPicPr>
          <p:cNvPr id="85" name="Рисунок 4" descr=""/>
          <p:cNvPicPr/>
          <p:nvPr/>
        </p:nvPicPr>
        <p:blipFill>
          <a:blip r:embed="rId2"/>
          <a:stretch/>
        </p:blipFill>
        <p:spPr>
          <a:xfrm>
            <a:off x="16075800" y="160200"/>
            <a:ext cx="1944720" cy="1374480"/>
          </a:xfrm>
          <a:prstGeom prst="rect">
            <a:avLst/>
          </a:prstGeom>
          <a:ln>
            <a:noFill/>
          </a:ln>
        </p:spPr>
      </p:pic>
      <p:sp>
        <p:nvSpPr>
          <p:cNvPr id="86" name="CustomShape 2"/>
          <p:cNvSpPr/>
          <p:nvPr/>
        </p:nvSpPr>
        <p:spPr>
          <a:xfrm>
            <a:off x="-11880" y="3456000"/>
            <a:ext cx="14483520" cy="131040"/>
          </a:xfrm>
          <a:prstGeom prst="rect">
            <a:avLst/>
          </a:prstGeom>
          <a:gradFill rotWithShape="0">
            <a:gsLst>
              <a:gs pos="0">
                <a:srgbClr val="3254a2"/>
              </a:gs>
              <a:gs pos="100000">
                <a:srgbClr val="3392c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CustomShape 3"/>
          <p:cNvSpPr/>
          <p:nvPr/>
        </p:nvSpPr>
        <p:spPr>
          <a:xfrm>
            <a:off x="504000" y="72000"/>
            <a:ext cx="12655440" cy="212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1" lang="ru-RU" sz="7200" spc="-1" strike="noStrike">
                <a:solidFill>
                  <a:srgbClr val="325ca8"/>
                </a:solidFill>
                <a:latin typeface="Montserrat"/>
                <a:ea typeface="Inter Medium"/>
              </a:rPr>
              <a:t>Список использованных источников</a:t>
            </a:r>
            <a:endParaRPr b="0" lang="ru-RU" sz="7200" spc="-1" strike="noStrike">
              <a:latin typeface="Arial"/>
            </a:endParaRPr>
          </a:p>
        </p:txBody>
      </p:sp>
      <p:sp>
        <p:nvSpPr>
          <p:cNvPr id="88" name="CustomShape 4"/>
          <p:cNvSpPr/>
          <p:nvPr/>
        </p:nvSpPr>
        <p:spPr>
          <a:xfrm>
            <a:off x="17349840" y="9863640"/>
            <a:ext cx="104796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fld id="{E096145B-BCDD-4E01-9EDC-84828FDE8967}" type="slidenum">
              <a:rPr b="0" lang="ru-RU" sz="2600" spc="-1" strike="noStrike">
                <a:solidFill>
                  <a:srgbClr val="3353a0"/>
                </a:solidFill>
                <a:latin typeface="Montserrat Medium"/>
                <a:ea typeface="DejaVu Sans"/>
              </a:rPr>
              <a:t>&lt;number&gt;</a:t>
            </a:fld>
            <a:r>
              <a:rPr b="0" lang="ru-RU" sz="2600" spc="-1" strike="noStrike">
                <a:solidFill>
                  <a:srgbClr val="3353a0"/>
                </a:solidFill>
                <a:latin typeface="Montserrat Medium"/>
                <a:ea typeface="DejaVu Sans"/>
              </a:rPr>
              <a:t> / 7</a:t>
            </a:r>
            <a:endParaRPr b="0" lang="ru-RU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11965</TotalTime>
  <Application>Trio_Office/6.2.8.2$Windows_x86 LibreOffice_project/</Application>
  <Words>207</Words>
  <Paragraphs>50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2025-01-14T09:23:53Z</dcterms:created>
  <dc:creator>Верниковский Виталий Викторович</dc:creator>
  <dc:description>Проект ДТ «Альтаир», ГБОУ Школа № 1329</dc:description>
  <cp:keywords>RAG PDF граф знаний Ollama Docling Qwen</cp:keywords>
  <dc:language>ru-RU</dc:language>
  <cp:lastModifiedBy/>
  <dcterms:modified xsi:type="dcterms:W3CDTF">2026-10-20T23:44:23Z</dcterms:modified>
  <cp:revision>14</cp:revision>
  <dc:subject>Защита идеи проекта</dc:subject>
  <dc:title>Умный экстрактор документов «Книжный Червь»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PptxGenJS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8</vt:i4>
  </property>
  <property fmtid="{D5CDD505-2E9C-101B-9397-08002B2CF9AE}" pid="9" name="PresentationFormat">
    <vt:lpwstr>Произвольный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8</vt:i4>
  </property>
</Properties>
</file>